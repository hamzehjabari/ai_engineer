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B2FF7"/>
                </a:solidFill>
                <a:latin typeface="Calibri"/>
              </a:defRPr>
            </a:pPr>
            <a:r>
              <a:t>IntelliWheels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Calibri"/>
              </a:defRPr>
            </a:pPr>
            <a:r>
              <a:t>AI-Powered Car Marketplace Assistant for Jordan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474720"/>
            <a:ext cx="1463040" cy="320040"/>
          </a:xfrm>
          <a:prstGeom prst="roundRect">
            <a:avLst/>
          </a:prstGeom>
          <a:solidFill>
            <a:srgbClr val="1E0B3D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B2FF7"/>
                </a:solidFill>
                <a:latin typeface="Calibri"/>
              </a:defRPr>
            </a:pPr>
            <a:r>
              <a:t>Gemini 2.5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474720"/>
            <a:ext cx="1463040" cy="320040"/>
          </a:xfrm>
          <a:prstGeom prst="roundRect">
            <a:avLst/>
          </a:prstGeom>
          <a:solidFill>
            <a:srgbClr val="00353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Django 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3474720"/>
            <a:ext cx="1463040" cy="320040"/>
          </a:xfrm>
          <a:prstGeom prst="roundRect">
            <a:avLst/>
          </a:prstGeom>
          <a:solidFill>
            <a:srgbClr val="093419"/>
          </a:solidFill>
          <a:ln w="127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D366"/>
                </a:solidFill>
                <a:latin typeface="Calibri"/>
              </a:defRPr>
            </a:pPr>
            <a:r>
              <a:t>Twilio WhatsApp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474720"/>
            <a:ext cx="1463040" cy="320040"/>
          </a:xfrm>
          <a:prstGeom prst="roundRect">
            <a:avLst/>
          </a:prstGeom>
          <a:solidFill>
            <a:srgbClr val="3F29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A500"/>
                </a:solidFill>
                <a:latin typeface="Calibri"/>
              </a:defRPr>
            </a:pPr>
            <a:r>
              <a:t>Crisp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474720"/>
            <a:ext cx="1463040" cy="320040"/>
          </a:xfrm>
          <a:prstGeom prst="roundRect">
            <a:avLst/>
          </a:prstGeom>
          <a:solidFill>
            <a:srgbClr val="3F1A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B6B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AI Engineer Course — Capstone Project —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A5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Car buyers in Jordan face multiple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💰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 Opacity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No standardized reference for used car</a:t>
            </a:r>
            <a:br/>
            <a:r>
              <a:t>valuations in JOD. Sellers set arbitrary</a:t>
            </a:r>
            <a:br/>
            <a:r>
              <a:t>prices — buyers can't verify.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🔍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Information Fragmentation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Specs, comparisons, and advice scattered</a:t>
            </a:r>
            <a:br/>
            <a:r>
              <a:t>across forums, Facebook groups,</a:t>
            </a:r>
            <a:br/>
            <a:r>
              <a:t>and word of mouth.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📷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Visual Identification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Buyers see a car on the street and can't</a:t>
            </a:r>
            <a:br/>
            <a:r>
              <a:t>quickly identify what it is, what year,</a:t>
            </a:r>
            <a:br/>
            <a:r>
              <a:t>or what it's worth.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📱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Accessibility Gap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Technical car data isn't easily accessible</a:t>
            </a:r>
            <a:br/>
            <a:r>
              <a:t>to non-technical users, especially</a:t>
            </a:r>
            <a:br/>
            <a:r>
              <a:t>on mobile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The Solution: IntelliWheels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4 AI-powered features in one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🤖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Chatbot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Google Gemini 2.5 Flash — Ask anything</a:t>
            </a:r>
            <a:br/>
            <a:r>
              <a:t>about cars: specs, comparisons,</a:t>
            </a:r>
            <a:br/>
            <a:r>
              <a:t>recommendations. Jordanian market</a:t>
            </a:r>
            <a:br/>
            <a:r>
              <a:t>focus with JOD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📊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 Estimator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Crisp (rule-based) logic — 15 makes,</a:t>
            </a:r>
            <a:br/>
            <a:r>
              <a:t>70+ models. Three depreciation tiers:</a:t>
            </a:r>
            <a:br/>
            <a:r>
              <a:t>Luxury (12%), Premium (10%),</a:t>
            </a:r>
            <a:br/>
            <a:r>
              <a:t>Economic (7%).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👁️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Vision Helper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Gemini Vision API — Upload any car</a:t>
            </a:r>
            <a:br/>
            <a:r>
              <a:t>photo and instantly identify make,</a:t>
            </a:r>
            <a:br/>
            <a:r>
              <a:t>model, year, and visible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035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📲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WhatsApp Share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Twilio API — Send chat replies and</a:t>
            </a:r>
            <a:br/>
            <a:r>
              <a:t>price estimates directly to WhatsApp</a:t>
            </a:r>
            <a:br/>
            <a:r>
              <a:t>for on-the-go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0352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Language:  </a:t>
            </a:r>
            <a:r>
              <a:rPr sz="1300">
                <a:solidFill>
                  <a:srgbClr val="FFFFFF"/>
                </a:solidFill>
                <a:latin typeface="Calibri"/>
              </a:rPr>
              <a:t>Python 3.12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Backend:  </a:t>
            </a:r>
            <a:r>
              <a:rPr sz="1300">
                <a:solidFill>
                  <a:srgbClr val="FFFFFF"/>
                </a:solidFill>
                <a:latin typeface="Calibri"/>
              </a:rPr>
              <a:t>Django 4.2 + REST Framework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LLM:  </a:t>
            </a:r>
            <a:r>
              <a:rPr sz="1300">
                <a:solidFill>
                  <a:srgbClr val="FFFFFF"/>
                </a:solidFill>
                <a:latin typeface="Calibri"/>
              </a:rPr>
              <a:t>Google Gemini 2.5 Flash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LLM SDK:  </a:t>
            </a:r>
            <a:r>
              <a:rPr sz="1300">
                <a:solidFill>
                  <a:srgbClr val="FFFFFF"/>
                </a:solidFill>
                <a:latin typeface="Calibri"/>
              </a:rPr>
              <a:t>google-genai (new official SDK)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Vision:  </a:t>
            </a:r>
            <a:r>
              <a:rPr sz="1300">
                <a:solidFill>
                  <a:srgbClr val="FFFFFF"/>
                </a:solidFill>
                <a:latin typeface="Calibri"/>
              </a:rPr>
              <a:t>Gemini Vision API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Price Logic:  </a:t>
            </a:r>
            <a:r>
              <a:rPr sz="1300">
                <a:solidFill>
                  <a:srgbClr val="FFFFFF"/>
                </a:solidFill>
                <a:latin typeface="Calibri"/>
              </a:rPr>
              <a:t>Crisp / rule-based (custom)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Messaging:  </a:t>
            </a:r>
            <a:r>
              <a:rPr sz="1300">
                <a:solidFill>
                  <a:srgbClr val="FFFFFF"/>
                </a:solidFill>
                <a:latin typeface="Calibri"/>
              </a:rPr>
              <a:t>Twilio WhatsApp Sandbox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Database:  </a:t>
            </a:r>
            <a:r>
              <a:rPr sz="1300">
                <a:solidFill>
                  <a:srgbClr val="FFFFFF"/>
                </a:solidFill>
                <a:latin typeface="Calibri"/>
              </a:rPr>
              <a:t>SQLite 3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Frontend:  </a:t>
            </a:r>
            <a:r>
              <a:rPr sz="1300">
                <a:solidFill>
                  <a:srgbClr val="FFFFFF"/>
                </a:solidFill>
                <a:latin typeface="Calibri"/>
              </a:rPr>
              <a:t>HTML / CSS / JavaScript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Config:  </a:t>
            </a:r>
            <a:r>
              <a:rPr sz="1300">
                <a:solidFill>
                  <a:srgbClr val="FFFFFF"/>
                </a:solidFill>
                <a:latin typeface="Calibri"/>
              </a:rPr>
              <a:t>python-dotenv (.env)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These Choices?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Django + DRF: </a:t>
            </a:r>
            <a:r>
              <a:rPr sz="1300">
                <a:solidFill>
                  <a:srgbClr val="BBBBBB"/>
                </a:solidFill>
                <a:latin typeface="Calibri"/>
              </a:rPr>
              <a:t>Battle-tested framework with admin, ORM, serializer validation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Gemini 2.5 Flash: </a:t>
            </a:r>
            <a:r>
              <a:rPr sz="1300">
                <a:solidFill>
                  <a:srgbClr val="BBBBBB"/>
                </a:solidFill>
                <a:latin typeface="Calibri"/>
              </a:rPr>
              <a:t>Fast, multimodal, free tier suitable for development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google-genai SDK: </a:t>
            </a:r>
            <a:r>
              <a:rPr sz="1300">
                <a:solidFill>
                  <a:srgbClr val="BBBBBB"/>
                </a:solidFill>
                <a:latin typeface="Calibri"/>
              </a:rPr>
              <a:t>New official SDK replacing deprecated google-generativeai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Crisp logic: </a:t>
            </a:r>
            <a:r>
              <a:rPr sz="1300">
                <a:solidFill>
                  <a:srgbClr val="BBBBBB"/>
                </a:solidFill>
                <a:latin typeface="Calibri"/>
              </a:rPr>
              <a:t>Deterministic pricing — no hallucinated numbers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Twilio: </a:t>
            </a:r>
            <a:r>
              <a:rPr sz="1300">
                <a:solidFill>
                  <a:srgbClr val="BBBBBB"/>
                </a:solidFill>
                <a:latin typeface="Calibri"/>
              </a:rPr>
              <a:t>Industry-standard WhatsApp API with sandbox for prototyping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188720"/>
            <a:ext cx="8229600" cy="640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🌐 Browser — Dark Cyberpunk UI (Single Page)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229600" cy="640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🚀 Django REST Framework — 7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017520"/>
            <a:ext cx="192024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🤖 Car</a:t>
            </a:r>
            <a:br/>
            <a:r>
              <a:t>Chatbot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3017520"/>
            <a:ext cx="192024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📊 Crisp</a:t>
            </a:r>
            <a:br/>
            <a:r>
              <a:t>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017520"/>
            <a:ext cx="192024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👁️ Gemini</a:t>
            </a:r>
            <a:br/>
            <a:r>
              <a:t>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017520"/>
            <a:ext cx="192024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📲 Twilio</a:t>
            </a:r>
            <a:br/>
            <a:r>
              <a:t>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023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389120"/>
            <a:ext cx="4023360" cy="640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🗄️ SQLite — All records persisted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389120"/>
            <a:ext cx="4023360" cy="640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🧠 Gemini API (google-genai)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Calibri"/>
              </a:rPr>
              <a:t>Chat: </a:t>
            </a:r>
            <a:r>
              <a:rPr sz="1100">
                <a:solidFill>
                  <a:srgbClr val="AAAAAA"/>
                </a:solidFill>
                <a:latin typeface="Calibri"/>
              </a:rPr>
              <a:t>User → ChatView → CarChatbotAgent → GeminiClient → Gemini API → ChatMessage → JSON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Calibri"/>
              </a:rPr>
              <a:t>Price: </a:t>
            </a:r>
            <a:r>
              <a:rPr sz="1100">
                <a:solidFill>
                  <a:srgbClr val="AAAAAA"/>
                </a:solidFill>
                <a:latin typeface="Calibri"/>
              </a:rPr>
              <a:t>User → PriceEstimateView → estimate_price() crisp logic → PriceEstimate → JSON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Calibri"/>
              </a:rPr>
              <a:t>Vision: </a:t>
            </a:r>
            <a:r>
              <a:rPr sz="1100">
                <a:solidFill>
                  <a:srgbClr val="AAAAAA"/>
                </a:solidFill>
                <a:latin typeface="Calibri"/>
              </a:rPr>
              <a:t>Image → VisionView → analyze_car_image() → Gemini Vision → VisionAnalysis → JSON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Calibri"/>
              </a:rPr>
              <a:t>WhatsApp: </a:t>
            </a:r>
            <a:r>
              <a:rPr sz="1100">
                <a:solidFill>
                  <a:srgbClr val="AAAAAA"/>
                </a:solidFill>
                <a:latin typeface="Calibri"/>
              </a:rPr>
              <a:t>Click share → WhatsAppView → send_whatsapp_message() → Twilio API → Delivered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API Design — 7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10881360" cy="457200"/>
          </a:xfrm>
          <a:prstGeom prst="roundRect">
            <a:avLst/>
          </a:prstGeom>
          <a:solidFill>
            <a:srgbClr val="2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Endpoint                     Method     Description                   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43891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/api/chat/                   POST       AI chatbot conversation        message, session_id (opt)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10881360" cy="438912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/api/estimate/               POST       Crisp logic price estimate     make, model, year, mileage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51176"/>
            <a:ext cx="10881360" cy="43891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/api/makes/                  GET        List all 15 car makes         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881360" cy="438912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/api/models/&lt;make&gt;/          GET        List models for a make         make (URL param)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02152"/>
            <a:ext cx="10881360" cy="43891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/api/vision/                 POST       Car image AI analysis          image (file upload)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39"/>
            <a:ext cx="10881360" cy="438912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/api/whatsapp/send/          POST       Send via WhatsApp              message, to (opt)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53128"/>
            <a:ext cx="10881360" cy="43891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/health/                     GET        Health check                  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Example: POST /api/estimate/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40680"/>
            <a:ext cx="5303520" cy="1097280"/>
          </a:xfrm>
          <a:prstGeom prst="roundRect">
            <a:avLst/>
          </a:prstGeom>
          <a:solidFill>
            <a:srgbClr val="0D0D18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4FF"/>
                </a:solidFill>
                <a:latin typeface="Consolas"/>
              </a:defRPr>
            </a:pPr>
            <a:r>
              <a:t>{ "make": "toyota", "model": "camry",</a:t>
            </a:r>
            <a:br/>
            <a:r>
              <a:t>  "year": 2020, "mileage_km": 80000 }</a:t>
            </a:r>
            <a:br/>
            <a:br/>
            <a:r>
              <a:t>→ { "depreciated_price_jod": 16213, "depreciation_pct": 35.1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Example: POST /api/chat/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440680"/>
            <a:ext cx="5303520" cy="1097280"/>
          </a:xfrm>
          <a:prstGeom prst="roundRect">
            <a:avLst/>
          </a:prstGeom>
          <a:solidFill>
            <a:srgbClr val="0D0D18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4FF"/>
                </a:solidFill>
                <a:latin typeface="Consolas"/>
              </a:defRPr>
            </a:pPr>
            <a:r>
              <a:t>{ "message": "Best car under 15K JOD?" }</a:t>
            </a:r>
            <a:br/>
            <a:br/>
            <a:r>
              <a:t>→ { "message": "For 15,000 JOD...",</a:t>
            </a:r>
            <a:br/>
            <a:r>
              <a:t>    "model_used": "gemini-2.5-flash"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A500"/>
                </a:solidFill>
                <a:latin typeface="Calibri"/>
              </a:defRPr>
            </a:pPr>
            <a:r>
              <a:t>Crisp Price Estimator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Deterministic, rule-based — no hallucinated prices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731520"/>
          </a:xfrm>
          <a:prstGeom prst="roundRect">
            <a:avLst/>
          </a:prstGeom>
          <a:solidFill>
            <a:srgbClr val="0D0D18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Value = Base Price × (1 − rate)^age − Mileage Penalty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303520" cy="5486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6B6B"/>
                </a:solidFill>
                <a:latin typeface="Calibri"/>
              </a:rPr>
              <a:t>  LUXURY  </a:t>
            </a:r>
            <a:r>
              <a:rPr sz="1200">
                <a:solidFill>
                  <a:srgbClr val="BBBBBB"/>
                </a:solidFill>
                <a:latin typeface="Calibri"/>
              </a:rPr>
              <a:t>  12%/yr    S-Class, 7-Series, Cayenne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5303520" cy="5486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A500"/>
                </a:solidFill>
                <a:latin typeface="Calibri"/>
              </a:rPr>
              <a:t>  PREMIUM  </a:t>
            </a:r>
            <a:r>
              <a:rPr sz="1200">
                <a:solidFill>
                  <a:srgbClr val="BBBBBB"/>
                </a:solidFill>
                <a:latin typeface="Calibri"/>
              </a:rPr>
              <a:t>  10%/yr    C-Class, 3-Series, A4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5303520" cy="5486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  ECONOMIC  </a:t>
            </a:r>
            <a:r>
              <a:rPr sz="1200">
                <a:solidFill>
                  <a:srgbClr val="BBBBBB"/>
                </a:solidFill>
                <a:latin typeface="Calibri"/>
              </a:rPr>
              <a:t>  7%/yr    Camry, Elantra, Civic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Mileage Penalties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&gt; 100,000 km → extra 5% deduction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&gt; 200,000 km → extra 10% deduction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Floor: never below 5% of base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Car Makes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500"/>
                </a:solidFill>
                <a:latin typeface="Calibri"/>
              </a:defRPr>
            </a:pPr>
            <a:r>
              <a:t>70+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D3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60320"/>
            <a:ext cx="5303520" cy="3474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Example Calculation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Toyota Camry 2020 • 80,000 km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Category: Economic (7%/yr)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Base: 25,000 JOD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Age: 6 years → factor: 0.6485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After age: 16,213 JOD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Mileage: under 100K → no penalty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25D366"/>
                </a:solidFill>
                <a:latin typeface="Calibri"/>
              </a:defRPr>
            </a:pPr>
            <a:r>
              <a:t>Final: 16,213 JOD (35.1% depreciation)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LLM Integration &amp;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GeminiClient Architecture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B2FF7"/>
                </a:solidFill>
                <a:latin typeface="Calibri"/>
              </a:rPr>
              <a:t>SDK: </a:t>
            </a:r>
            <a:r>
              <a:rPr sz="1200">
                <a:solidFill>
                  <a:srgbClr val="FFFFFF"/>
                </a:solidFill>
                <a:latin typeface="Calibri"/>
              </a:rPr>
              <a:t>google-genai (new official SDK)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B2FF7"/>
                </a:solidFill>
                <a:latin typeface="Calibri"/>
              </a:rPr>
              <a:t>Model: </a:t>
            </a:r>
            <a:r>
              <a:rPr sz="1200">
                <a:solidFill>
                  <a:srgbClr val="FFFFFF"/>
                </a:solidFill>
                <a:latin typeface="Calibri"/>
              </a:rPr>
              <a:t>gemini-2.5-flash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B2FF7"/>
                </a:solidFill>
                <a:latin typeface="Calibri"/>
              </a:rPr>
              <a:t>Pattern: </a:t>
            </a:r>
            <a:r>
              <a:rPr sz="1200">
                <a:solidFill>
                  <a:srgbClr val="FFFFFF"/>
                </a:solidFill>
                <a:latin typeface="Calibri"/>
              </a:rPr>
              <a:t>Singleton instance (one client, all requests)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B2FF7"/>
                </a:solidFill>
                <a:latin typeface="Calibri"/>
              </a:rPr>
              <a:t>Methods: </a:t>
            </a:r>
            <a:r>
              <a:rPr sz="1200">
                <a:solidFill>
                  <a:srgbClr val="FFFFFF"/>
                </a:solidFill>
                <a:latin typeface="Calibri"/>
              </a:rPr>
              <a:t>chat() + analyze_image()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System instructions: </a:t>
            </a:r>
            <a:r>
              <a:rPr sz="1300">
                <a:solidFill>
                  <a:srgbClr val="BBBBBB"/>
                </a:solidFill>
                <a:latin typeface="Calibri"/>
              </a:rPr>
              <a:t>Jordanian market specialization via GenerateContentConfig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Multi-turn: </a:t>
            </a:r>
            <a:r>
              <a:rPr sz="1300">
                <a:solidFill>
                  <a:srgbClr val="BBBBBB"/>
                </a:solidFill>
                <a:latin typeface="Calibri"/>
              </a:rPr>
              <a:t>Full conversation history with Content/Part objects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Vision: </a:t>
            </a:r>
            <a:r>
              <a:rPr sz="1300">
                <a:solidFill>
                  <a:srgbClr val="BBBBBB"/>
                </a:solidFill>
                <a:latin typeface="Calibri"/>
              </a:rPr>
              <a:t>Part.from_bytes() for image analysis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Mock mode: </a:t>
            </a:r>
            <a:r>
              <a:rPr sz="1300">
                <a:solidFill>
                  <a:srgbClr val="BBBBBB"/>
                </a:solidFill>
                <a:latin typeface="Calibri"/>
              </a:rPr>
              <a:t>Works without API key (returns setup instructions)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Rate limit handling: </a:t>
            </a:r>
            <a:r>
              <a:rPr sz="1300">
                <a:solidFill>
                  <a:srgbClr val="BBBBBB"/>
                </a:solidFill>
                <a:latin typeface="Calibri"/>
              </a:rPr>
              <a:t>429 errors → friendly message, no crashes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2926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CarChatbotAgent — System Prompt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Car specs &amp; comparisons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Budget recommendations (JOD)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Category explanations (Luxury/Premium/Economic)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Price guidance → redirect to estimator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Maintenance &amp; import tips for Jordan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Politely redirects non-car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389120"/>
            <a:ext cx="5303520" cy="20116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Session Management</a:t>
            </a:r>
          </a:p>
          <a:p>
            <a:pPr algn="l">
              <a:spcBef>
                <a:spcPts val="3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Each conversation → unique ChatSession</a:t>
            </a:r>
          </a:p>
          <a:p>
            <a:pPr algn="l">
              <a:spcBef>
                <a:spcPts val="3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Every message saved as ChatMessage</a:t>
            </a:r>
          </a:p>
          <a:p>
            <a:pPr algn="l">
              <a:spcBef>
                <a:spcPts val="3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Full history sent to Gemini for context</a:t>
            </a:r>
          </a:p>
          <a:p>
            <a:pPr algn="l">
              <a:spcBef>
                <a:spcPts val="3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Frontend tracks session_id for continuity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D366"/>
                </a:solidFill>
                <a:latin typeface="Calibri"/>
              </a:defRPr>
            </a:pPr>
            <a:r>
              <a:t>Vision Analysis &amp; WhatsApp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03520" cy="2560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👁️ Gemini Vision Helper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D4FF"/>
                </a:solidFill>
                <a:latin typeface="Calibri"/>
              </a:rPr>
              <a:t>Input: </a:t>
            </a:r>
            <a:r>
              <a:rPr sz="1200">
                <a:solidFill>
                  <a:srgbClr val="FFFFFF"/>
                </a:solidFill>
                <a:latin typeface="Calibri"/>
              </a:rPr>
              <a:t>Car photo (JPEG/PNG/WebP)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D4FF"/>
                </a:solidFill>
                <a:latin typeface="Calibri"/>
              </a:rPr>
              <a:t>Output: </a:t>
            </a:r>
            <a:r>
              <a:rPr sz="1200">
                <a:solidFill>
                  <a:srgbClr val="FFFFFF"/>
                </a:solidFill>
                <a:latin typeface="Calibri"/>
              </a:rPr>
              <a:t>Make, Model, Year, Condition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D4FF"/>
                </a:solidFill>
                <a:latin typeface="Calibri"/>
              </a:rPr>
              <a:t>Method: </a:t>
            </a:r>
            <a:r>
              <a:rPr sz="1200">
                <a:solidFill>
                  <a:srgbClr val="FFFFFF"/>
                </a:solidFill>
                <a:latin typeface="Calibri"/>
              </a:rPr>
              <a:t>Part.from_bytes() → Gemini Vision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D4FF"/>
                </a:solidFill>
                <a:latin typeface="Calibri"/>
              </a:rPr>
              <a:t>Prompt: </a:t>
            </a:r>
            <a:r>
              <a:rPr sz="1200">
                <a:solidFill>
                  <a:srgbClr val="FFFFFF"/>
                </a:solidFill>
                <a:latin typeface="Calibri"/>
              </a:rPr>
              <a:t>Structured JSON output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Response Parsing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Parse JSON from Gemini response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Strip markdown code fences if present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Fallback: raw text → condition field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All results saved to VisionAnalysis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2560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📲 Twilio WhatsApp Integration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5D366"/>
                </a:solidFill>
                <a:latin typeface="Calibri"/>
              </a:rPr>
              <a:t>Provider: </a:t>
            </a:r>
            <a:r>
              <a:rPr sz="1200">
                <a:solidFill>
                  <a:srgbClr val="FFFFFF"/>
                </a:solidFill>
                <a:latin typeface="Calibri"/>
              </a:rPr>
              <a:t>Twilio WhatsApp Sandbox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5D366"/>
                </a:solidFill>
                <a:latin typeface="Calibri"/>
              </a:rPr>
              <a:t>Pattern: </a:t>
            </a:r>
            <a:r>
              <a:rPr sz="1200">
                <a:solidFill>
                  <a:srgbClr val="FFFFFF"/>
                </a:solidFill>
                <a:latin typeface="Calibri"/>
              </a:rPr>
              <a:t>Follows agents_htu-main project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5D366"/>
                </a:solidFill>
                <a:latin typeface="Calibri"/>
              </a:rPr>
              <a:t>Sender: </a:t>
            </a:r>
            <a:r>
              <a:rPr sz="1200">
                <a:solidFill>
                  <a:srgbClr val="FFFFFF"/>
                </a:solidFill>
                <a:latin typeface="Calibri"/>
              </a:rPr>
              <a:t>+14155238886 (sandbox)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5D366"/>
                </a:solidFill>
                <a:latin typeface="Calibri"/>
              </a:rPr>
              <a:t>Recipient: </a:t>
            </a:r>
            <a:r>
              <a:rPr sz="1200">
                <a:solidFill>
                  <a:srgbClr val="FFFFFF"/>
                </a:solidFill>
                <a:latin typeface="Calibri"/>
              </a:rPr>
              <a:t>Configurable via .env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Auto-add whatsapp: prefix to numbers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Share chat responses with one click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Share price estimates with one click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Error 63007 handling (invalid sender)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▸ Toast notifications for send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Database Schema — 5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474720" cy="2468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🚗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CarListing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make, model, year, mileage_km,</a:t>
            </a:r>
            <a:br/>
            <a:r>
              <a:t>fuel_type, transmission, category,</a:t>
            </a:r>
            <a:br/>
            <a:r>
              <a:t>color, prices, description, is_sold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3474720" cy="2468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💬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ChatSession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started_at, ended_at, summary</a:t>
            </a:r>
            <a:br/>
            <a:br/>
            <a:r>
              <a:t>← has many ChatMessages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59" y="1188720"/>
            <a:ext cx="3474720" cy="2468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💬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ChatMessage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session (FK), role (user/assistant),</a:t>
            </a:r>
            <a:br/>
            <a:r>
              <a:t>content, created_at</a:t>
            </a:r>
            <a:br/>
            <a:br/>
            <a:r>
              <a:t>Full conversation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3474720" cy="2468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📊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PriceEstimate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make, model, year, mileage_km,</a:t>
            </a:r>
            <a:br/>
            <a:r>
              <a:t>category, original_price_jod,</a:t>
            </a:r>
            <a:br/>
            <a:r>
              <a:t>depreciated_price, breakdown (JSON)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474720" cy="2468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👁️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VisionAnalysis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image (file), detected_make,</a:t>
            </a:r>
            <a:br/>
            <a:r>
              <a:t>detected_model, detected_year,</a:t>
            </a:r>
            <a:br/>
            <a:r>
              <a:t>condition_summary, raw_response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3931920"/>
            <a:ext cx="3474720" cy="2468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⚙️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Admin Panel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All 5 models registered with</a:t>
            </a:r>
            <a:br/>
            <a:r>
              <a:t>list_display, filters, and</a:t>
            </a:r>
            <a:br/>
            <a:r>
              <a:t>search fields at /admin/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SQLite database  •  Django ORM  •  All records persisted and inspectable via /admin/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Safety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🔒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Input Validation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DRF serializers validate all inputs.</a:t>
            </a:r>
            <a:br/>
            <a:r>
              <a:t>Image MIME whitelist. Year 1980–2026.</a:t>
            </a:r>
            <a:br/>
            <a:r>
              <a:t>Message max 5000 chars.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⚡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Rate Limit Handling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Gemini 429/RESOURCE_EXHAUSTED</a:t>
            </a:r>
            <a:br/>
            <a:r>
              <a:t>caught → friendly message.</a:t>
            </a:r>
            <a:br/>
            <a:r>
              <a:t>No crashes on quota exhaustion.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59" y="11887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📋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Structured Logging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3 loggers (core, api, ai_engine).</a:t>
            </a:r>
            <a:br/>
            <a:r>
              <a:t>app.log + errors.log.</a:t>
            </a:r>
            <a:br/>
            <a:r>
              <a:t>Verbose format with PID/thread.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🛡️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CORS &amp; CSRF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CORS restricted in production.</a:t>
            </a:r>
            <a:br/>
            <a:r>
              <a:t>CSRF middleware active.</a:t>
            </a:r>
            <a:br/>
            <a:r>
              <a:t>Auth validators enabled.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🔄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Graceful Fallbacks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Mock responses (no API key).</a:t>
            </a:r>
            <a:br/>
            <a:r>
              <a:t>Vision JSON parse fallback.</a:t>
            </a:r>
            <a:br/>
            <a:r>
              <a:t>Floor price (5% of base).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39319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📦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Persistence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All chats, estimates, and vision</a:t>
            </a:r>
            <a:br/>
            <a:r>
              <a:t>results saved. Django Admin</a:t>
            </a:r>
            <a:br/>
            <a:r>
              <a:t>for full data inspection.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D366"/>
                </a:solidFill>
                <a:latin typeface="Calibri"/>
              </a:defRPr>
            </a:pPr>
            <a:r>
              <a:t>Capstone Requirements  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0352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Core Requirements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Use case design (car marketplace for Jordan)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Django project + API endpoints (7 endpoints)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Core LLM logic (Gemini via google-genai SDK)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Agent capabilities (CarChatbotAgent)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WhatsApp connection (Twilio API)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Debugging &amp; error handling (logging + fallbacks)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Performance &amp; safety checks (validation + rate limits)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Technical documentation (TECHNICAL_DOCUMENTATION.docx)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Final pitch presentation (this PPTX)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Bonus Features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Computer Vision (Gemini Vision API)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Crisp logic estimator (rule-based, 70+ models)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Modern UI (dark cyberpunk theme)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Session management (multi-turn conversations)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Django Admin (all 5 models registered)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.env configuration (load_dotenv override)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.gitignore + .env.example + README.md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Mock fallback mode (works without API key)</a:t>
            </a:r>
          </a:p>
          <a:p>
            <a:pPr>
              <a:spcBef>
                <a:spcPts val="500"/>
              </a:spcBef>
              <a:defRPr sz="1200">
                <a:solidFill>
                  <a:srgbClr val="BBBBBB"/>
                </a:solidFill>
                <a:latin typeface="Calibri"/>
              </a:defRPr>
            </a:pPr>
            <a:r>
              <a:t>✅ Health check endpoint (/health/)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D366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Calibri"/>
              </a:defRPr>
            </a:pPr>
            <a:r>
              <a:t>Open  localhost:8000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457200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💬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Chat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"What's the best car for</a:t>
            </a:r>
            <a:br/>
            <a:r>
              <a:t>a family of 5 under 20K JOD?"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457200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💰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Price Estimator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Toyota → Camry → 2020</a:t>
            </a:r>
            <a:br/>
            <a:r>
              <a:t>→ 80,000 km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06240"/>
            <a:ext cx="457200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📷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Vision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Upload any car photo →</a:t>
            </a:r>
            <a:br/>
            <a:r>
              <a:t>instant AI identification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206240"/>
            <a:ext cx="457200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/>
            </a:pPr>
            <a:r>
              <a:t>📲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 WhatsApp</a:t>
            </a:r>
          </a:p>
          <a:p>
            <a:pPr>
              <a:spcBef>
                <a:spcPts val="600"/>
              </a:spcBef>
              <a:defRPr sz="1100">
                <a:solidFill>
                  <a:srgbClr val="AAAAAA"/>
                </a:solidFill>
                <a:latin typeface="Calibri"/>
              </a:defRPr>
            </a:pPr>
            <a:r>
              <a:t>Click "Send via WhatsApp"</a:t>
            </a:r>
            <a:br/>
            <a:r>
              <a:t>→ check your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All features are live and connected to real APIs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🚗✨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IntelliWheels — AI Car Marketplace for Jordan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383280"/>
            <a:ext cx="1463040" cy="320040"/>
          </a:xfrm>
          <a:prstGeom prst="roundRect">
            <a:avLst/>
          </a:prstGeom>
          <a:solidFill>
            <a:srgbClr val="1E0B3D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B2FF7"/>
                </a:solidFill>
                <a:latin typeface="Calibri"/>
              </a:defRPr>
            </a:pPr>
            <a:r>
              <a:t>Gemini 2.5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383280"/>
            <a:ext cx="1463040" cy="320040"/>
          </a:xfrm>
          <a:prstGeom prst="roundRect">
            <a:avLst/>
          </a:prstGeom>
          <a:solidFill>
            <a:srgbClr val="00353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Django 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3383280"/>
            <a:ext cx="1463040" cy="320040"/>
          </a:xfrm>
          <a:prstGeom prst="roundRect">
            <a:avLst/>
          </a:prstGeom>
          <a:solidFill>
            <a:srgbClr val="093419"/>
          </a:solidFill>
          <a:ln w="127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D366"/>
                </a:solidFill>
                <a:latin typeface="Calibri"/>
              </a:defRPr>
            </a:pPr>
            <a:r>
              <a:t>Twilio WhatsApp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383280"/>
            <a:ext cx="1463040" cy="320040"/>
          </a:xfrm>
          <a:prstGeom prst="roundRect">
            <a:avLst/>
          </a:prstGeom>
          <a:solidFill>
            <a:srgbClr val="3F290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A500"/>
                </a:solidFill>
                <a:latin typeface="Calibri"/>
              </a:defRPr>
            </a:pPr>
            <a:r>
              <a:t>Crisp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383280"/>
            <a:ext cx="1463040" cy="320040"/>
          </a:xfrm>
          <a:prstGeom prst="roundRect">
            <a:avLst/>
          </a:prstGeom>
          <a:solidFill>
            <a:srgbClr val="3F1A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B6B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06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206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500"/>
                </a:solidFill>
                <a:latin typeface="Calibri"/>
              </a:defRPr>
            </a:pPr>
            <a:r>
              <a:t>70+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Car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06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D36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AI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06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DB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AI Engineer Course — Capstone Project — February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❓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